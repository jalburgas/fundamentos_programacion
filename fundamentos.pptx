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970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7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50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81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22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483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0708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55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296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53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27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EF2B2-3F6D-4BEE-BECD-12B77FC467C3}" type="datetimeFigureOut">
              <a:rPr lang="es-VE" smtClean="0"/>
              <a:t>3/9/2026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0391F6C-A607-4CF2-A84B-BF18EBE351EA}" type="slidenum">
              <a:rPr lang="es-VE" smtClean="0"/>
              <a:t>‹Nº›</a:t>
            </a:fld>
            <a:endParaRPr lang="es-VE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5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s50.harvard.edu/x/notes/0/#computer-science-and-problem-solv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s50.harvard.edu/x/notes/0/#algorithm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s50.harvard.edu/x/notes/0/#pseudocod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s50.harvard.edu/x/notes/0/#pseudocod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s50.harvard.edu/x/notes/0/#pseudocod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s50.harvard.edu/x/notes/0/#pseudocod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s50.harvard.edu/x/notes/0/#pseudocod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4AE57-6B4E-EF79-6720-05CFE30409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ES" dirty="0"/>
              <a:t>Fundamentos de Programación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629108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5B59F-3C1E-AB30-8D8C-958A4B77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>
                <a:hlinkClick r:id="rId2"/>
              </a:rPr>
              <a:t>Resolución de Problemas</a:t>
            </a:r>
            <a:br>
              <a:rPr lang="es-VE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3A434B-31AB-B893-5D9D-9EA35BA32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Esencialmente, la programación de computadoras se trata de tomar alguna entrada y crear algo de salida, resolviendo así un problema. Lo que sucede entre la entrada y la salida, lo que podríamos llamar </a:t>
            </a:r>
            <a:r>
              <a:rPr lang="es-ES" i="1" dirty="0"/>
              <a:t>una caja negra,</a:t>
            </a:r>
            <a:r>
              <a:rPr lang="es-ES" dirty="0"/>
              <a:t> es el foco de este curso.</a:t>
            </a:r>
            <a:endParaRPr lang="es-V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909E3B-70AA-8DC2-2B10-E0D6CBE60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3429000"/>
            <a:ext cx="5443538" cy="13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56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7BC9F-36E7-D067-0A7E-22E54BBB6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>
                <a:hlinkClick r:id="rId2"/>
              </a:rPr>
              <a:t>Algoritmos</a:t>
            </a:r>
            <a:br>
              <a:rPr lang="es-VE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B33020-FCCA-AE84-C3EA-2EF6E651D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La resolución de problemas es fundamental para la informática y la programación informática. Una </a:t>
            </a:r>
            <a:r>
              <a:rPr lang="es-ES" i="1" dirty="0"/>
              <a:t>Algoritmo</a:t>
            </a:r>
            <a:r>
              <a:rPr lang="es-ES" dirty="0"/>
              <a:t> Es un conjunto paso a paso de instrucciones para resolver un problema.</a:t>
            </a:r>
          </a:p>
          <a:p>
            <a:r>
              <a:rPr lang="es-ES" dirty="0"/>
              <a:t>Imagine el problema básico de tratar de localizar un solo nombre en una guía telefónica.</a:t>
            </a:r>
          </a:p>
          <a:p>
            <a:r>
              <a:rPr lang="es-ES" dirty="0"/>
              <a:t>Un enfoque podría ser simplemente leer de la página uno al siguiente a la siguiente hasta llegar a la última página.</a:t>
            </a:r>
          </a:p>
          <a:p>
            <a:r>
              <a:rPr lang="es-ES" dirty="0"/>
              <a:t>Otro enfoque podría ser buscar dos páginas a la vez.</a:t>
            </a:r>
          </a:p>
          <a:p>
            <a:r>
              <a:rPr lang="es-ES" dirty="0"/>
              <a:t>Un enfoque final y tal vez mejor podría ser ir a la mitad de la guía telefónica y preguntar: “¿Está el nombre que estoy buscando a la izquierda o a la derecha?” Luego, repite este proceso, reduciendo el problema por la mitad y mitad y la mitad.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886330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B3447-85E8-8640-4D77-F8395C4E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>
                <a:hlinkClick r:id="rId2"/>
              </a:rPr>
              <a:t>Pseudocódigo</a:t>
            </a:r>
            <a:br>
              <a:rPr lang="es-VE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8BD447-AC0F-04E0-DEDB-C55F1F1BC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pseudocódigo son instrucciones legibles por humanos que a menudo describen los pasos de un algoritmo.</a:t>
            </a:r>
          </a:p>
          <a:p>
            <a:r>
              <a:rPr lang="es-ES" dirty="0"/>
              <a:t>La capacidad de crear </a:t>
            </a:r>
            <a:r>
              <a:rPr lang="es-ES" i="1" dirty="0"/>
              <a:t>pseudocódigo</a:t>
            </a:r>
            <a:r>
              <a:rPr lang="es-ES" dirty="0"/>
              <a:t> Es fundamental para el éxito de uno tanto en esta clase como en la programación de computadoras.</a:t>
            </a:r>
            <a:endParaRPr lang="es-V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A30493-4F95-1DE0-F62E-46B641FFB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858" y="3304960"/>
            <a:ext cx="5096142" cy="355303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C3C8FA1-FE3C-B5ED-A9C1-DA47570AE6A9}"/>
              </a:ext>
            </a:extLst>
          </p:cNvPr>
          <p:cNvSpPr txBox="1"/>
          <p:nvPr/>
        </p:nvSpPr>
        <p:spPr>
          <a:xfrm>
            <a:off x="2828925" y="4300538"/>
            <a:ext cx="3600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Por ejemplo, considerando el tercer algoritmo anterior, podríamos componer el pseudocódigo de la siguiente manera: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EF108C1-6F3E-9D05-E61D-5712B207DCBF}"/>
              </a:ext>
            </a:extLst>
          </p:cNvPr>
          <p:cNvCxnSpPr>
            <a:cxnSpLocks/>
          </p:cNvCxnSpPr>
          <p:nvPr/>
        </p:nvCxnSpPr>
        <p:spPr>
          <a:xfrm>
            <a:off x="6096000" y="5143500"/>
            <a:ext cx="873374" cy="0"/>
          </a:xfrm>
          <a:prstGeom prst="straightConnector1">
            <a:avLst/>
          </a:prstGeom>
          <a:ln w="952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64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4FB8C-725B-8293-16BF-6C043E22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>
                <a:hlinkClick r:id="rId2"/>
              </a:rPr>
              <a:t>Pseudocódigo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FFC928-4068-0F7F-7B5F-9F886F671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pseudocodificado</a:t>
            </a:r>
            <a:r>
              <a:rPr lang="es-ES" dirty="0"/>
              <a:t> es una habilidad tan importante por al menos dos razones. Primero, cuando se </a:t>
            </a:r>
            <a:r>
              <a:rPr lang="es-ES" dirty="0" err="1"/>
              <a:t>pseudocodifica</a:t>
            </a:r>
            <a:r>
              <a:rPr lang="es-ES" dirty="0"/>
              <a:t> antes de crear código formal, le permite pensar en la lógica de su problema de antemano. En segundo lugar, cuando se </a:t>
            </a:r>
            <a:r>
              <a:rPr lang="es-ES" dirty="0" err="1"/>
              <a:t>pseudocodifica</a:t>
            </a:r>
            <a:r>
              <a:rPr lang="es-ES" dirty="0"/>
              <a:t>, más tarde puede proporcionar esta información a otros que buscan comprender sus decisiones de codificación y cómo funciona su código.</a:t>
            </a:r>
          </a:p>
          <a:p>
            <a:r>
              <a:rPr lang="es-ES" dirty="0"/>
              <a:t>Observe que el lenguaje dentro de nuestro pseudocódigo tiene algunas características únicas. Primero, algunas de estas líneas comienzan con verbos como </a:t>
            </a:r>
            <a:r>
              <a:rPr lang="es-ES" i="1" dirty="0"/>
              <a:t>Recoge,</a:t>
            </a:r>
            <a:r>
              <a:rPr lang="es-ES" dirty="0"/>
              <a:t> </a:t>
            </a:r>
            <a:r>
              <a:rPr lang="es-ES" i="1" dirty="0"/>
              <a:t>Abierto,</a:t>
            </a:r>
            <a:r>
              <a:rPr lang="es-ES" dirty="0"/>
              <a:t> </a:t>
            </a:r>
            <a:r>
              <a:rPr lang="es-ES" i="1" dirty="0"/>
              <a:t>Mira.</a:t>
            </a:r>
            <a:r>
              <a:rPr lang="es-ES" dirty="0"/>
              <a:t> Más tarde, los llamaremos </a:t>
            </a:r>
            <a:r>
              <a:rPr lang="es-ES" i="1" dirty="0"/>
              <a:t>Funciones</a:t>
            </a:r>
            <a:r>
              <a:rPr lang="es-ES" dirty="0"/>
              <a:t>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5180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A6668-5D0C-072E-0178-F9B63C0C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>
                <a:hlinkClick r:id="rId2"/>
              </a:rPr>
              <a:t>Pseudocódigo</a:t>
            </a:r>
            <a:endParaRPr lang="es-V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E28DF4-9527-14EA-59CF-97391A6ED3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174861"/>
            <a:ext cx="100255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segundo lugar, observe que algunas líneas incluyen declaraciones como </a:t>
            </a:r>
            <a:r>
              <a:rPr kumimoji="0" lang="es-VE" altLang="es-VE" sz="1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if</a:t>
            </a:r>
            <a:r>
              <a:rPr kumimoji="0" lang="es-VE" altLang="es-VE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o </a:t>
            </a:r>
            <a:r>
              <a:rPr kumimoji="0" lang="es-VE" altLang="es-VE" sz="1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else</a:t>
            </a:r>
            <a:r>
              <a:rPr kumimoji="0" lang="es-VE" altLang="es-VE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s-VE" altLang="es-VE" sz="1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if</a:t>
            </a:r>
            <a:r>
              <a:rPr kumimoji="0" lang="es-VE" altLang="es-VE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.</a:t>
            </a:r>
            <a:r>
              <a:rPr kumimoji="0" lang="es-VE" altLang="es-VE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s-VE" altLang="es-V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Estos se llaman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Condiciones condicionales</a:t>
            </a:r>
            <a:r>
              <a:rPr kumimoji="0" lang="es-VE" altLang="es-V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C4D93E-51F8-F9DB-90E0-9E1028ED7F8A}"/>
              </a:ext>
            </a:extLst>
          </p:cNvPr>
          <p:cNvSpPr txBox="1"/>
          <p:nvPr/>
        </p:nvSpPr>
        <p:spPr>
          <a:xfrm>
            <a:off x="1451579" y="2974479"/>
            <a:ext cx="9906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En tercer lugar, observe cómo hay expresiones que pueden ser declaradas como </a:t>
            </a:r>
            <a:r>
              <a:rPr lang="es-ES" i="1" dirty="0"/>
              <a:t>¿</a:t>
            </a:r>
            <a:r>
              <a:rPr lang="es-ES" i="1" dirty="0">
                <a:solidFill>
                  <a:srgbClr val="FF0000"/>
                </a:solidFill>
              </a:rPr>
              <a:t>Verdad</a:t>
            </a:r>
            <a:r>
              <a:rPr lang="es-ES" dirty="0">
                <a:solidFill>
                  <a:srgbClr val="FF0000"/>
                </a:solidFill>
              </a:rPr>
              <a:t> o </a:t>
            </a:r>
            <a:r>
              <a:rPr lang="es-ES" i="1" dirty="0">
                <a:solidFill>
                  <a:srgbClr val="FF0000"/>
                </a:solidFill>
              </a:rPr>
              <a:t>falso</a:t>
            </a:r>
            <a:r>
              <a:rPr lang="es-ES" i="1" dirty="0"/>
              <a:t>,</a:t>
            </a:r>
            <a:r>
              <a:rPr lang="es-ES" dirty="0"/>
              <a:t> Como “la persona está antes en el libro”. Nosotros llamamos a estos </a:t>
            </a:r>
            <a:r>
              <a:rPr lang="es-ES" i="1" dirty="0"/>
              <a:t>Expresiones booleanas</a:t>
            </a:r>
            <a:r>
              <a:rPr lang="es-ES" dirty="0"/>
              <a:t>.</a:t>
            </a:r>
            <a:endParaRPr lang="es-V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5ED388B-A14B-9CB0-9458-D9160745D6DA}"/>
              </a:ext>
            </a:extLst>
          </p:cNvPr>
          <p:cNvSpPr txBox="1"/>
          <p:nvPr/>
        </p:nvSpPr>
        <p:spPr>
          <a:xfrm>
            <a:off x="1451578" y="3774097"/>
            <a:ext cx="10025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Finalmente, observe cómo hay declaraciones como “volver a la línea 3”. Nosotros llamamos a estos </a:t>
            </a:r>
            <a:r>
              <a:rPr lang="es-ES" i="1" dirty="0"/>
              <a:t>Bucles</a:t>
            </a:r>
            <a:r>
              <a:rPr lang="es-ES" dirty="0"/>
              <a:t>.</a:t>
            </a:r>
            <a:endParaRPr lang="es-V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A41202A-20B9-CDBD-34A5-9C254EF4EB17}"/>
              </a:ext>
            </a:extLst>
          </p:cNvPr>
          <p:cNvSpPr txBox="1"/>
          <p:nvPr/>
        </p:nvSpPr>
        <p:spPr>
          <a:xfrm>
            <a:off x="2625327" y="4894822"/>
            <a:ext cx="793313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Estos bloques de construcción son los fundamentos de la programación.</a:t>
            </a:r>
            <a:endParaRPr lang="es-VE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027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279290-ECE4-5F87-6DA7-2A4F0247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>
                <a:hlinkClick r:id="rId2"/>
              </a:rPr>
              <a:t>Pseudocódigo</a:t>
            </a:r>
            <a:r>
              <a:rPr lang="es-VE" b="1" dirty="0"/>
              <a:t> </a:t>
            </a:r>
            <a:r>
              <a:rPr lang="es-VE" dirty="0"/>
              <a:t>Estructura general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63566FD-72B7-A8D8-168F-CE38A2964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216" y="1897688"/>
            <a:ext cx="120347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Cabecera / Inicio:</a:t>
            </a:r>
            <a:r>
              <a:rPr kumimoji="0" lang="es-VE" altLang="es-V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Define el nombre del algoritmo y marca el punto de partida (ej. </a:t>
            </a:r>
            <a:r>
              <a:rPr kumimoji="0" lang="es-VE" altLang="es-V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Algoritmo Nombre</a:t>
            </a:r>
            <a:r>
              <a:rPr kumimoji="0" lang="es-VE" altLang="es-V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s-VE" altLang="es-V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Inicio</a:t>
            </a:r>
            <a:r>
              <a:rPr kumimoji="0" lang="es-VE" altLang="es-V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endParaRPr kumimoji="0" lang="es-VE" altLang="es-V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C2A72CA-ACEB-5917-AF4D-70B5C1AF1634}"/>
              </a:ext>
            </a:extLst>
          </p:cNvPr>
          <p:cNvSpPr txBox="1"/>
          <p:nvPr/>
        </p:nvSpPr>
        <p:spPr>
          <a:xfrm>
            <a:off x="157216" y="2356495"/>
            <a:ext cx="12034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Declaración de variables:</a:t>
            </a:r>
            <a:r>
              <a:rPr lang="es-ES" dirty="0"/>
              <a:t> Apartado opcional donde se enlistan las variables y su tipo de dato (entero, texto, booleano, etc.).</a:t>
            </a:r>
            <a:endParaRPr lang="es-V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06ADC3E-16D6-1096-BD2C-12D16DA7BF6A}"/>
              </a:ext>
            </a:extLst>
          </p:cNvPr>
          <p:cNvSpPr txBox="1"/>
          <p:nvPr/>
        </p:nvSpPr>
        <p:spPr>
          <a:xfrm>
            <a:off x="157216" y="2815302"/>
            <a:ext cx="11687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Cuerpo de instrucciones:</a:t>
            </a:r>
            <a:r>
              <a:rPr lang="es-ES" dirty="0"/>
              <a:t> El bloque central que contiene las operaciones secuenciales, condicionales y bucles.</a:t>
            </a:r>
            <a:endParaRPr lang="es-VE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A4AC31D-1D97-8504-5DF5-AA14FB4C8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216" y="318463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Fin:</a:t>
            </a:r>
            <a:r>
              <a:rPr kumimoji="0" lang="es-VE" altLang="es-V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 la culminación del proceso (ej. </a:t>
            </a:r>
            <a:r>
              <a:rPr kumimoji="0" lang="es-VE" altLang="es-V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FinAlgoritmo</a:t>
            </a:r>
            <a:r>
              <a:rPr kumimoji="0" lang="es-VE" altLang="es-V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s-VE" altLang="es-V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</a:t>
            </a:r>
            <a:r>
              <a:rPr kumimoji="0" lang="es-VE" altLang="es-V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endParaRPr kumimoji="0" lang="es-VE" altLang="es-V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74BCDA1-921C-6BDC-8A03-BC60FCD79A75}"/>
              </a:ext>
            </a:extLst>
          </p:cNvPr>
          <p:cNvSpPr txBox="1"/>
          <p:nvPr/>
        </p:nvSpPr>
        <p:spPr>
          <a:xfrm>
            <a:off x="157216" y="3729830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dirty="0"/>
              <a:t>Palabras clave principales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B326A85-7C20-C9FB-2EEB-FAD7BBD13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024" y="4464156"/>
            <a:ext cx="6172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Entrada y Salida de Datos</a:t>
            </a: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Leer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Ingresar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Captura valores introducidos por el usuario.</a:t>
            </a: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Escribir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Imprimir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Muestra mensajes o resultados en pantalla.</a:t>
            </a: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201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EEFE8AA-4A8C-9603-185E-BD5AE20B7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" y="1930711"/>
            <a:ext cx="852307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Asignación de Valores</a:t>
            </a: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&lt;-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Almacena un valor dentro de una variable (ej. 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&lt;- precio * 2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0EF1B91-4437-4E7A-81D8-93518936A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19" y="2854041"/>
            <a:ext cx="873926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Estructuras Condicionales</a:t>
            </a: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 ... Entonces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s-VE" altLang="es-V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FinSi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Ejecuta un bloque si se cumple una condición lógica.</a:t>
            </a: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Sino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Alternativa si la condición del 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resulta falsa.</a:t>
            </a: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Segun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s-VE" altLang="es-V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FinSegun</a:t>
            </a:r>
            <a:r>
              <a:rPr kumimoji="0" lang="es-VE" altLang="es-V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Evalúa múltiples opciones posibles según el valor de una variable.</a:t>
            </a: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VE" altLang="es-V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2C51B98-3791-C696-4714-48D26382C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19" y="4265583"/>
            <a:ext cx="988462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Estructuras Repetitivas (Bucles)</a:t>
            </a:r>
            <a:endParaRPr kumimoji="0" lang="es-VE" altLang="es-V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Mientras ... Hacer</a:t>
            </a:r>
            <a:r>
              <a:rPr kumimoji="0" lang="es-VE" altLang="es-V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s-VE" altLang="es-V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FinMientras</a:t>
            </a:r>
            <a:r>
              <a:rPr kumimoji="0" lang="es-VE" altLang="es-V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Repite instrucciones mientras una condición sea verdadera.</a:t>
            </a:r>
            <a:endParaRPr kumimoji="0" lang="es-VE" altLang="es-V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Para ... Hasta ... Con Paso</a:t>
            </a:r>
            <a:r>
              <a:rPr kumimoji="0" lang="es-VE" altLang="es-V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s-VE" altLang="es-V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FinPara</a:t>
            </a:r>
            <a:r>
              <a:rPr kumimoji="0" lang="es-VE" altLang="es-V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Controla un ciclo con un contador específico de repeticiones.</a:t>
            </a:r>
            <a:endParaRPr kumimoji="0" lang="es-VE" altLang="es-V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Repetir ... Hasta Que</a:t>
            </a:r>
            <a:r>
              <a:rPr kumimoji="0" lang="es-VE" altLang="es-V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Ejecuta el bloque al menos una vez antes de verificar la condición de parada.</a:t>
            </a:r>
            <a:endParaRPr kumimoji="0" lang="es-VE" altLang="es-V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VE" altLang="es-V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0B7DD0C-EB6F-F6BA-579D-5D8515B71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s-VE" b="1" dirty="0">
                <a:hlinkClick r:id="rId2"/>
              </a:rPr>
              <a:t>Pseudocódigo</a:t>
            </a:r>
            <a:r>
              <a:rPr lang="es-VE" b="1" dirty="0"/>
              <a:t> </a:t>
            </a:r>
            <a:r>
              <a:rPr lang="es-VE" dirty="0"/>
              <a:t>Estructura general</a:t>
            </a:r>
          </a:p>
        </p:txBody>
      </p:sp>
    </p:spTree>
    <p:extLst>
      <p:ext uri="{BB962C8B-B14F-4D97-AF65-F5344CB8AC3E}">
        <p14:creationId xmlns:p14="http://schemas.microsoft.com/office/powerpoint/2010/main" val="427270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8ED3F-DEF3-A706-2242-08F8FD6B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Ejercicios</a:t>
            </a:r>
            <a:endParaRPr lang="es-VE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8ABB41-3F21-4916-CF5D-6BA63C2CD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Escribe un pseudocódigo que pida dos números, los sume y muestre el resultado.</a:t>
            </a:r>
          </a:p>
          <a:p>
            <a:r>
              <a:rPr lang="es-ES" dirty="0"/>
              <a:t>Escribe un pseudocódigo que indique si un número ingresado es mayor o menor a cero.</a:t>
            </a:r>
          </a:p>
          <a:p>
            <a:r>
              <a:rPr lang="es-ES" dirty="0"/>
              <a:t>Escribe un pseudocódigo que imprima los números del 1 al 3 en pantalla.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56289282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43</TotalTime>
  <Words>724</Words>
  <Application>Microsoft Office PowerPoint</Application>
  <PresentationFormat>Panorámica</PresentationFormat>
  <Paragraphs>46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Arial Unicode MS</vt:lpstr>
      <vt:lpstr>Gill Sans MT</vt:lpstr>
      <vt:lpstr>Galería</vt:lpstr>
      <vt:lpstr>Fundamentos de Programación</vt:lpstr>
      <vt:lpstr>Resolución de Problemas </vt:lpstr>
      <vt:lpstr>Algoritmos </vt:lpstr>
      <vt:lpstr>Pseudocódigo </vt:lpstr>
      <vt:lpstr>Pseudocódigo</vt:lpstr>
      <vt:lpstr>Pseudocódigo</vt:lpstr>
      <vt:lpstr>Pseudocódigo Estructura general</vt:lpstr>
      <vt:lpstr>Pseudocódigo Estructura general</vt:lpstr>
      <vt:lpstr>Ejercicios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alburgas</dc:creator>
  <cp:lastModifiedBy>juan alburgas</cp:lastModifiedBy>
  <cp:revision>9</cp:revision>
  <dcterms:created xsi:type="dcterms:W3CDTF">2026-09-03T14:24:20Z</dcterms:created>
  <dcterms:modified xsi:type="dcterms:W3CDTF">2026-09-03T15:07:56Z</dcterms:modified>
</cp:coreProperties>
</file>